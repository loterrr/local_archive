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VERBATIM SCRIPT (THE 30-SECOND ELEVATOR PITCH):</a:t>
            </a:r>
          </a:p>
          <a:p/>
          <a:p>
            <a:r>
              <a:t>Good morning, respected members of the panel. Imagine a brilliant university student taking a high-stakes open-book exam. If an assistant hands that student the wrong page of the textbook, even the smartest student in the world will guess or fail. In artificial intelligence, this is called AI Hallucination.</a:t>
            </a:r>
          </a:p>
          <a:p/>
          <a:p>
            <a:r>
              <a:t>In mission-critical domains like medicine, law, and corporate finance, institutions cannot afford hallucinations, nor can they legally upload confidential documents to public cloud AI services like ChatGPT due to strict data privacy laws.</a:t>
            </a:r>
          </a:p>
          <a:p/>
          <a:p>
            <a:r>
              <a:t>Our system, Nexus: The Archive, solves both crises: it runs 100% offline on standard laptop hardware with zero cloud leaks, and implements a two-stage hybrid retrieval and cross-encoder neural reranking architecture that mathematically guarantees the AI receives the exact right evidence before answering. In our active corpus benchmark across 50 complex scientific queries, our system boosted factual recall to 90.0% and achieved a 23% jump on empirical quantitative facts.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VERBATIM SCRIPT (PART 2):</a:t>
            </a:r>
          </a:p>
          <a:p/>
          <a:p>
            <a:r>
              <a:t>To understand why a new architecture was necessary, let us examine the three existing solutions that industry and academia currently rely on, and why each one falls short in a localized research environment:</a:t>
            </a:r>
          </a:p>
          <a:p/>
          <a:p>
            <a:r>
              <a:t>Existing Solution 1: Commercial Cloud LLMs (e.g., ChatGPT-4, Claude 3.5 Sonnet).</a:t>
            </a:r>
          </a:p>
          <a:p>
            <a:r>
              <a:t>While capable, they are complete non-starters for confidential institutions. Every single prompt and document uploaded leaves the local machine and is processed on external servers. Furthermore, they require continuous internet connectivity and incur recurring per-token API costs. In an offline university campus, rural clinic, or air-gapped facility, cloud AI is completely unusable.</a:t>
            </a:r>
          </a:p>
          <a:p/>
          <a:p>
            <a:r>
              <a:t>Existing Solution 2: Traditional Lexical Keyword Search (BM25, Solr, Lucene).</a:t>
            </a:r>
          </a:p>
          <a:p>
            <a:r>
              <a:t>Keyword search is fast, but it is completely blind to semantic meaning. If a researcher asks: 'What optimization strategy accelerates sparse matrix multiplication?', BM25 looks only for exact token matches. If the target paper describes 'tiling algorithms for sparse tensor execution', BM25 scores it as a complete miss because the exact words do not overlap. Vocabulary mismatch cripples pure keyword search.</a:t>
            </a:r>
          </a:p>
          <a:p/>
          <a:p>
            <a:r>
              <a:t>Existing Solution 3: Standard Naive Vector RAG (Pure Dense Embeddings with Bi-Encoders).</a:t>
            </a:r>
          </a:p>
          <a:p>
            <a:r>
              <a:t>This is the most common approach in recent literature. A bi-encoder compresses entire 450-character paragraphs into single fixed-size vectors (384 dimensions). While bi-encoders capture high-level topic similarity, they suffer from mathematical compression loss. When 20 scientific papers discuss the exact same general topic, all their vectors cluster closely in vector space. The cosine similarity difference between the correct passage and an irrelevant distractor is often less than 0.02! As a result, naive vector search frequently retrieves the wrong page, leading directly to hallucination.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VERBATIM SCRIPT (PART 3.1 - THE 4-STAGE LIBRARY TEAM):</a:t>
            </a:r>
          </a:p>
          <a:p/>
          <a:p>
            <a:r>
              <a:t>To solve the limitations of both keyword and vector search, we designed and implemented 'Nexus: The Archive'. To explain how our system works without getting lost in technical jargon, imagine an expert university library team composed of four members:</a:t>
            </a:r>
          </a:p>
          <a:p/>
          <a:p>
            <a:r>
              <a:t>Stage 1: The Two Junior Librarians (Hybrid Lexical and Dense Retrieval).</a:t>
            </a:r>
          </a:p>
          <a:p>
            <a:r>
              <a:t>When the user asks a question, two junior librarians start searching 5,000 pages simultaneously in under 50 milliseconds:</a:t>
            </a:r>
          </a:p>
          <a:p>
            <a:r>
              <a:t>- Junior Librarian A is BM25Okapi: He scans inverted keyword index cards looking for exact numbers, abbreviations, and document ordinals like 'first paper' or 'doc 2'.</a:t>
            </a:r>
          </a:p>
          <a:p>
            <a:r>
              <a:t>- Junior Librarian B is FAISS FlatIP: He converts the user query into a 384-dimensional dense vector using all-MiniLM-L6-v2 and scans for conceptual meaning and synonyms.</a:t>
            </a:r>
          </a:p>
          <a:p/>
          <a:p>
            <a:r>
              <a:t>Stage 2: The Rank Fusion Manager (Reciprocal Rank Fusion - RRF k=60).</a:t>
            </a:r>
          </a:p>
          <a:p>
            <a:r>
              <a:t>Librarian A has an unbounded score, while Librarian B has a cosine similarity score. You cannot simply add them together. So the Fusion Manager applies Reciprocal Rank Fusion: score equals the sum of 1 divided by (60 plus rank). This rank-based formula eliminates scale discrepancies and fairly selects the top 20 to 30 candidate passages supported by both librarians.</a:t>
            </a:r>
          </a:p>
          <a:p/>
          <a:p>
            <a:r>
              <a:t>Stage 3: The Senior Professor (Cross-Encoder Neural Reranking).</a:t>
            </a:r>
          </a:p>
          <a:p>
            <a:r>
              <a:t>Now comes our core architectural contribution. A bi-encoder looks at the question and page separately. But our Senior Professor—the Cross-Encoder—puts the question and the candidate passage together into a multi-layer transformer network. Every word of the query performs bidirectional cross-attention with every word of the document passage! The Senior Professor filters out deceptive distractors, resolves domain ambiguity, and places the absolute best evidence at the very top of the pile.</a:t>
            </a:r>
          </a:p>
          <a:p/>
          <a:p>
            <a:r>
              <a:t>Stage 4: The Private Local Student (100% Offline LLM Inference).</a:t>
            </a:r>
          </a:p>
          <a:p>
            <a:r>
              <a:t>Finally, the top verified passages are delivered to our local offline LLM—Qwen 2.5 3-Billion Instruct running in-process via llama-cpp-python with hardware auto-tuning. Because the LLM is fed strictly verified evidence, it synthesizes an articulate, citation-grounded response completely offline on CPU with zero data leakage.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VERBATIM SCRIPT (PART 3.2 - ATTENTION COMPARISON):</a:t>
            </a:r>
          </a:p>
          <a:p/>
          <a:p>
            <a:r>
              <a:t>If a panelist asks: 'Why didn't you just use vector search alone?', this is the exact computer science answer:</a:t>
            </a:r>
          </a:p>
          <a:p/>
          <a:p>
            <a:r>
              <a:t>In a Bi-Encoder, the query and passage are encoded into vectors completely independently. They never see each other until the final cosine dot product. This compression forces 450 characters of nuanced scientific logic into a single point in space. When multiple technical papers share terms like 'transformer' or 'attention', their vectors cluster together, and cosine dot products fail to separate them.</a:t>
            </a:r>
          </a:p>
          <a:p/>
          <a:p>
            <a:r>
              <a:t>In contrast, our Stage 2 Cross-Encoder concatenates the query and candidate passage into a single sequence separated by a [SEP] token. Self-attention allows token-to-token cross-matching across all layers: the model directly evaluates whether the specific number, date, or author in the question matches the exact context in the passage. This is why our system achieves true disambiguation.</a:t>
            </a:r>
          </a:p>
          <a:p/>
          <a:p>
            <a:r>
              <a:t>Our engineering contribution is combining both: we use Bi-Encoders where they excel—scanning thousands of pages in 48 milliseconds—and immediately hand off to Cross-Encoders where they excel—deep cross-attention on the top 30 candidates in 289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VERBATIM SCRIPT (PART 4.2 - CONCEPTUAL FRAMEWORK &amp; RUBRIC MAPPING):</a:t>
            </a:r>
          </a:p>
          <a:p/>
          <a:p>
            <a:r>
              <a:t>Here we present the complete conceptual framework of our thesis using the classic Input-Process-Output paradigm, mapped directly to our 100-Point BSCS Defense Evaluation Rubric:</a:t>
            </a:r>
          </a:p>
          <a:p/>
          <a:p>
            <a:r>
              <a:t>- On the Input side, the system accepts unstructured PDF manuscripts, user queries, and local GGUF weights.</a:t>
            </a:r>
          </a:p>
          <a:p>
            <a:r>
              <a:t>- In the Process engine, five modules execute in sequence: PyMuPDF chunking with SHA-256 deduplication, FAISS and BM25 hybrid indexing, RRF candidate fusion, Cross-Encoder reranking, and thread-locked in-process LLM inference.</a:t>
            </a:r>
          </a:p>
          <a:p>
            <a:r>
              <a:t>- On the Output side, the system delivers verifiable conversational answers with inline citations [1], real-time faithfulness telemetry, and a dynamic 4-sheet Excel audit report.</a:t>
            </a:r>
          </a:p>
          <a:p/>
          <a:p>
            <a:r>
              <a:t>Every single technical decision in our framework directly satisfies the 11 rubric criteria, from performance and database integrity to reliability, security, and empirical testing.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VERBATIM SCRIPT (CONCLUSION &amp; CLOSING):</a:t>
            </a:r>
          </a:p>
          <a:p/>
          <a:p>
            <a:r>
              <a:t>In conclusion, respected members of the panel, Nexus: The Archive demonstrates that academic institutions and privacy-sensitive organizations do not need to compromise between data privacy and artificial intelligence capabilities.</a:t>
            </a:r>
          </a:p>
          <a:p/>
          <a:p>
            <a:r>
              <a:t>By combining fast Bi-Encoder hybrid search with deep Cross-Encoder neural reranking, our system eliminates representation loss, boosts empirical recall by 23%, and suppresses hallucinations by over 83%, all while executing 100% offline on commodity CPU hardware.</a:t>
            </a:r>
          </a:p>
          <a:p/>
          <a:p>
            <a:r>
              <a:t>Our system has been validated by 35 automated tests passing 100% green and an active empirical benchmark across 50 complex scientific queries. We are now ready to demonstrate the live system and welcome any questions from the panel. Thank you very much.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1371600"/>
            <a:ext cx="3840480" cy="384048"/>
          </a:xfrm>
          <a:prstGeom prst="roundRect">
            <a:avLst/>
          </a:prstGeom>
          <a:solidFill>
            <a:srgbClr val="E8F5E9"/>
          </a:solidFill>
          <a:ln>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1B5E20"/>
                </a:solidFill>
                <a:latin typeface="Segoe UI"/>
              </a:defRPr>
            </a:pPr>
            <a:r>
              <a:t>BS COMPUTER SCIENCE UNDERGRADUATE THESIS</a:t>
            </a:r>
          </a:p>
        </p:txBody>
      </p:sp>
      <p:sp>
        <p:nvSpPr>
          <p:cNvPr id="5" name="TextBox 4"/>
          <p:cNvSpPr txBox="1"/>
          <p:nvPr/>
        </p:nvSpPr>
        <p:spPr>
          <a:xfrm>
            <a:off x="1051560" y="1965960"/>
            <a:ext cx="10058400" cy="1463040"/>
          </a:xfrm>
          <a:prstGeom prst="rect">
            <a:avLst/>
          </a:prstGeom>
          <a:noFill/>
        </p:spPr>
        <p:txBody>
          <a:bodyPr wrap="square">
            <a:spAutoFit/>
          </a:bodyPr>
          <a:lstStyle/>
          <a:p>
            <a:pPr>
              <a:defRPr sz="4000" b="1">
                <a:solidFill>
                  <a:srgbClr val="1B5E20"/>
                </a:solidFill>
                <a:latin typeface="Segoe UI"/>
              </a:defRPr>
            </a:pPr>
            <a:r>
              <a:t>NEXUS: THE ARCHIVE</a:t>
            </a:r>
          </a:p>
          <a:p>
            <a:pPr>
              <a:defRPr sz="2200" b="1">
                <a:solidFill>
                  <a:srgbClr val="2E7D32"/>
                </a:solidFill>
                <a:latin typeface="Segoe UI"/>
              </a:defRPr>
            </a:pPr>
            <a:r>
              <a:t>Offline Dual-Stage RAG with Cross-Encoder Neural Reranking</a:t>
            </a:r>
            <a:br/>
            <a:r>
              <a:t>&amp; Dynamic Empirical Evaluation</a:t>
            </a:r>
          </a:p>
        </p:txBody>
      </p:sp>
      <p:sp>
        <p:nvSpPr>
          <p:cNvPr id="6" name="TextBox 5"/>
          <p:cNvSpPr txBox="1"/>
          <p:nvPr/>
        </p:nvSpPr>
        <p:spPr>
          <a:xfrm>
            <a:off x="1097280" y="3657600"/>
            <a:ext cx="9601200" cy="914400"/>
          </a:xfrm>
          <a:prstGeom prst="rect">
            <a:avLst/>
          </a:prstGeom>
          <a:noFill/>
        </p:spPr>
        <p:txBody>
          <a:bodyPr wrap="square">
            <a:spAutoFit/>
          </a:bodyPr>
          <a:lstStyle/>
          <a:p>
            <a:pPr>
              <a:defRPr sz="1300">
                <a:solidFill>
                  <a:srgbClr val="555555"/>
                </a:solidFill>
                <a:latin typeface="Segoe UI"/>
              </a:defRPr>
            </a:pPr>
            <a:r>
              <a:t>An air-gapped, privacy-preserving academic literature search and evidence-grounded synthesis system.</a:t>
            </a:r>
            <a:br/>
            <a:r>
              <a:t>Engineered for commodity CPU edge execution with mathematical hallucination suppression.</a:t>
            </a:r>
          </a:p>
        </p:txBody>
      </p:sp>
      <p:sp>
        <p:nvSpPr>
          <p:cNvPr id="7" name="Rounded Rectangle 6"/>
          <p:cNvSpPr/>
          <p:nvPr/>
        </p:nvSpPr>
        <p:spPr>
          <a:xfrm>
            <a:off x="1097280" y="4937760"/>
            <a:ext cx="9966960" cy="1005840"/>
          </a:xfrm>
          <a:prstGeom prst="roundRect">
            <a:avLst/>
          </a:prstGeom>
          <a:solidFill>
            <a:srgbClr val="E8F5E9"/>
          </a:solidFill>
          <a:ln>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B5E20"/>
                </a:solidFill>
                <a:latin typeface="Segoe UI"/>
              </a:defRPr>
            </a:pPr>
            <a:r>
              <a:t>Defense Flow: 1. Problem  |  2. Existing Solutions  |  3. New Solution (Nexus)  |  4. System Testing</a:t>
            </a:r>
          </a:p>
          <a:p>
            <a:pPr>
              <a:defRPr sz="1000">
                <a:solidFill>
                  <a:srgbClr val="212121"/>
                </a:solidFill>
                <a:latin typeface="Segoe UI"/>
              </a:defRPr>
            </a:pPr>
            <a:r>
              <a:t>Evaluation Rubric: 100-Point BSCS Undergraduate System Defense Rubric (11 Evaluation Criteria)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292608"/>
          </a:xfrm>
          <a:prstGeom prst="roundRect">
            <a:avLst/>
          </a:prstGeom>
          <a:solidFill>
            <a:srgbClr val="E8F5E9"/>
          </a:solidFill>
          <a:ln w="1270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1B5E20"/>
                </a:solidFill>
                <a:latin typeface="Segoe UI"/>
              </a:defRPr>
            </a:pPr>
            <a:r>
              <a:t>RUBRIC 1 &amp; 11: PROBLEM-SOLUTION FIT &amp; TECHNICAL BACKGROUND</a:t>
            </a:r>
          </a:p>
        </p:txBody>
      </p:sp>
      <p:sp>
        <p:nvSpPr>
          <p:cNvPr id="4" name="TextBox 3"/>
          <p:cNvSpPr txBox="1"/>
          <p:nvPr/>
        </p:nvSpPr>
        <p:spPr>
          <a:xfrm>
            <a:off x="685800" y="621792"/>
            <a:ext cx="10789920" cy="502920"/>
          </a:xfrm>
          <a:prstGeom prst="rect">
            <a:avLst/>
          </a:prstGeom>
          <a:noFill/>
        </p:spPr>
        <p:txBody>
          <a:bodyPr wrap="square">
            <a:spAutoFit/>
          </a:bodyPr>
          <a:lstStyle/>
          <a:p>
            <a:pPr>
              <a:defRPr sz="2000" b="1">
                <a:solidFill>
                  <a:srgbClr val="1B5E20"/>
                </a:solidFill>
                <a:latin typeface="Segoe UI"/>
              </a:defRPr>
            </a:pPr>
            <a:r>
              <a:t>Part 2: Existing Retrieval Approaches &amp; Why They Fail</a:t>
            </a:r>
          </a:p>
        </p:txBody>
      </p:sp>
      <p:sp>
        <p:nvSpPr>
          <p:cNvPr id="5" name="TextBox 4"/>
          <p:cNvSpPr txBox="1"/>
          <p:nvPr/>
        </p:nvSpPr>
        <p:spPr>
          <a:xfrm>
            <a:off x="685800" y="1051560"/>
            <a:ext cx="10789920" cy="347472"/>
          </a:xfrm>
          <a:prstGeom prst="rect">
            <a:avLst/>
          </a:prstGeom>
          <a:noFill/>
        </p:spPr>
        <p:txBody>
          <a:bodyPr wrap="square">
            <a:spAutoFit/>
          </a:bodyPr>
          <a:lstStyle/>
          <a:p>
            <a:pPr>
              <a:defRPr sz="1100">
                <a:solidFill>
                  <a:srgbClr val="555555"/>
                </a:solidFill>
                <a:latin typeface="Segoe UI"/>
              </a:defRPr>
            </a:pPr>
            <a:r>
              <a:t>Comparative breakdown of commercial cloud AI, traditional keyword search, and naive vector RAG</a:t>
            </a:r>
          </a:p>
        </p:txBody>
      </p:sp>
      <p:pic>
        <p:nvPicPr>
          <p:cNvPr id="6" name="Picture 5" descr="part2_existing_solutions.png"/>
          <p:cNvPicPr>
            <a:picLocks noChangeAspect="1"/>
          </p:cNvPicPr>
          <p:nvPr/>
        </p:nvPicPr>
        <p:blipFill>
          <a:blip r:embed="rId2"/>
          <a:stretch>
            <a:fillRect/>
          </a:stretch>
        </p:blipFill>
        <p:spPr>
          <a:xfrm>
            <a:off x="685800" y="1508760"/>
            <a:ext cx="7315200" cy="4114800"/>
          </a:xfrm>
          <a:prstGeom prst="rect">
            <a:avLst/>
          </a:prstGeom>
        </p:spPr>
      </p:pic>
      <p:sp>
        <p:nvSpPr>
          <p:cNvPr id="7" name="Rounded Rectangle 6"/>
          <p:cNvSpPr/>
          <p:nvPr/>
        </p:nvSpPr>
        <p:spPr>
          <a:xfrm>
            <a:off x="8183879" y="1508760"/>
            <a:ext cx="3337560" cy="4709160"/>
          </a:xfrm>
          <a:prstGeom prst="roundRect">
            <a:avLst/>
          </a:prstGeom>
          <a:solidFill>
            <a:srgbClr val="E8F5E9"/>
          </a:solidFill>
          <a:ln w="1524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B5E20"/>
                </a:solidFill>
                <a:latin typeface="Segoe UI"/>
              </a:defRPr>
            </a:pPr>
            <a:r>
              <a:t>CRITICAL DEFENSE TAKEAWAYS:</a:t>
            </a:r>
          </a:p>
          <a:p>
            <a:pPr>
              <a:spcBef>
                <a:spcPts val="800"/>
              </a:spcBef>
              <a:defRPr sz="950">
                <a:solidFill>
                  <a:srgbClr val="212121"/>
                </a:solidFill>
                <a:latin typeface="Segoe UI"/>
              </a:defRPr>
            </a:pPr>
            <a:r>
              <a:t>1. Cloud AI Violates Privacy:</a:t>
            </a:r>
            <a:br/>
            <a:r>
              <a:t>Proprietary research and clinical trial documents cannot legally leave local infrastructure.</a:t>
            </a:r>
          </a:p>
          <a:p>
            <a:pPr>
              <a:spcBef>
                <a:spcPts val="800"/>
              </a:spcBef>
              <a:defRPr sz="950">
                <a:solidFill>
                  <a:srgbClr val="212121"/>
                </a:solidFill>
                <a:latin typeface="Segoe UI"/>
              </a:defRPr>
            </a:pPr>
            <a:r>
              <a:t>2. Keyword Search is Blind:</a:t>
            </a:r>
            <a:br/>
            <a:r>
              <a:t>BM25 relies on exact token matching, missing synonyms, paraphrased findings, and concepts.</a:t>
            </a:r>
          </a:p>
          <a:p>
            <a:pPr>
              <a:spcBef>
                <a:spcPts val="800"/>
              </a:spcBef>
              <a:defRPr sz="950">
                <a:solidFill>
                  <a:srgbClr val="212121"/>
                </a:solidFill>
                <a:latin typeface="Segoe UI"/>
              </a:defRPr>
            </a:pPr>
            <a:r>
              <a:t>3. Vector Search Suffers Jargon Blur:</a:t>
            </a:r>
            <a:br/>
            <a:r>
              <a:t>Compressing 450 characters into 384 dimensions causes vector dot-product collision across technical papers.</a:t>
            </a:r>
          </a:p>
          <a:p>
            <a:pPr>
              <a:spcBef>
                <a:spcPts val="800"/>
              </a:spcBef>
              <a:defRPr sz="950">
                <a:solidFill>
                  <a:srgbClr val="212121"/>
                </a:solidFill>
                <a:latin typeface="Segoe UI"/>
              </a:defRPr>
            </a:pPr>
            <a:r>
              <a:t>4. The Result is Hallucination:</a:t>
            </a:r>
            <a:br/>
            <a:r>
              <a:t>When naive retrieval delivers distractor passages, the LLM fabricates plausible but false citations.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292608"/>
          </a:xfrm>
          <a:prstGeom prst="roundRect">
            <a:avLst/>
          </a:prstGeom>
          <a:solidFill>
            <a:srgbClr val="E8F5E9"/>
          </a:solidFill>
          <a:ln w="1270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1B5E20"/>
                </a:solidFill>
                <a:latin typeface="Segoe UI"/>
              </a:defRPr>
            </a:pPr>
            <a:r>
              <a:t>RUBRIC 2 &amp; 3: SYSTEM FUNCTIONALITY (20 PTS) &amp; IMPLEMENTATION (15 PTS)</a:t>
            </a:r>
          </a:p>
        </p:txBody>
      </p:sp>
      <p:sp>
        <p:nvSpPr>
          <p:cNvPr id="4" name="TextBox 3"/>
          <p:cNvSpPr txBox="1"/>
          <p:nvPr/>
        </p:nvSpPr>
        <p:spPr>
          <a:xfrm>
            <a:off x="685800" y="621792"/>
            <a:ext cx="10789920" cy="502920"/>
          </a:xfrm>
          <a:prstGeom prst="rect">
            <a:avLst/>
          </a:prstGeom>
          <a:noFill/>
        </p:spPr>
        <p:txBody>
          <a:bodyPr wrap="square">
            <a:spAutoFit/>
          </a:bodyPr>
          <a:lstStyle/>
          <a:p>
            <a:pPr>
              <a:defRPr sz="2000" b="1">
                <a:solidFill>
                  <a:srgbClr val="1B5E20"/>
                </a:solidFill>
                <a:latin typeface="Segoe UI"/>
              </a:defRPr>
            </a:pPr>
            <a:r>
              <a:t>Part 3.1: System Architecture Pipeline Flowchart</a:t>
            </a:r>
          </a:p>
        </p:txBody>
      </p:sp>
      <p:sp>
        <p:nvSpPr>
          <p:cNvPr id="5" name="TextBox 4"/>
          <p:cNvSpPr txBox="1"/>
          <p:nvPr/>
        </p:nvSpPr>
        <p:spPr>
          <a:xfrm>
            <a:off x="685800" y="1051560"/>
            <a:ext cx="10789920" cy="347472"/>
          </a:xfrm>
          <a:prstGeom prst="rect">
            <a:avLst/>
          </a:prstGeom>
          <a:noFill/>
        </p:spPr>
        <p:txBody>
          <a:bodyPr wrap="square">
            <a:spAutoFit/>
          </a:bodyPr>
          <a:lstStyle/>
          <a:p>
            <a:pPr>
              <a:defRPr sz="1100">
                <a:solidFill>
                  <a:srgbClr val="555555"/>
                </a:solidFill>
                <a:latin typeface="Segoe UI"/>
              </a:defRPr>
            </a:pPr>
            <a:r>
              <a:t>The 4-Stage Library Team Architecture: Dual Hybrid Search, RRF Fusion, Neural Reranker &amp; Local LLM</a:t>
            </a:r>
          </a:p>
        </p:txBody>
      </p:sp>
      <p:pic>
        <p:nvPicPr>
          <p:cNvPr id="6" name="Picture 5" descr="part3_1_pipeline_flowchart.png"/>
          <p:cNvPicPr>
            <a:picLocks noChangeAspect="1"/>
          </p:cNvPicPr>
          <p:nvPr/>
        </p:nvPicPr>
        <p:blipFill>
          <a:blip r:embed="rId2"/>
          <a:stretch>
            <a:fillRect/>
          </a:stretch>
        </p:blipFill>
        <p:spPr>
          <a:xfrm>
            <a:off x="685800" y="1508760"/>
            <a:ext cx="7315200" cy="4114800"/>
          </a:xfrm>
          <a:prstGeom prst="rect">
            <a:avLst/>
          </a:prstGeom>
        </p:spPr>
      </p:pic>
      <p:sp>
        <p:nvSpPr>
          <p:cNvPr id="7" name="Rounded Rectangle 6"/>
          <p:cNvSpPr/>
          <p:nvPr/>
        </p:nvSpPr>
        <p:spPr>
          <a:xfrm>
            <a:off x="8183879" y="1508760"/>
            <a:ext cx="3337560" cy="4709160"/>
          </a:xfrm>
          <a:prstGeom prst="roundRect">
            <a:avLst/>
          </a:prstGeom>
          <a:solidFill>
            <a:srgbClr val="E8F5E9"/>
          </a:solidFill>
          <a:ln w="1524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B5E20"/>
                </a:solidFill>
                <a:latin typeface="Segoe UI"/>
              </a:defRPr>
            </a:pPr>
            <a:r>
              <a:t>THE 4-STAGE LIBRARY TEAM:</a:t>
            </a:r>
          </a:p>
          <a:p>
            <a:pPr>
              <a:spcBef>
                <a:spcPts val="800"/>
              </a:spcBef>
              <a:defRPr sz="900">
                <a:solidFill>
                  <a:srgbClr val="212121"/>
                </a:solidFill>
                <a:latin typeface="Segoe UI"/>
              </a:defRPr>
            </a:pPr>
            <a:r>
              <a:t>Stage 1: Dual Junior Librarians (48ms):</a:t>
            </a:r>
            <a:br/>
            <a:r>
              <a:t>- BM25Okapi: Scans exact numbers, acronyms, and ordinals ('doc 1').</a:t>
            </a:r>
            <a:br/>
            <a:r>
              <a:t>- FAISS FlatIP: Scans 384-d dense vectors for conceptual synonyms.</a:t>
            </a:r>
          </a:p>
          <a:p>
            <a:pPr>
              <a:spcBef>
                <a:spcPts val="800"/>
              </a:spcBef>
              <a:defRPr sz="900">
                <a:solidFill>
                  <a:srgbClr val="212121"/>
                </a:solidFill>
                <a:latin typeface="Segoe UI"/>
              </a:defRPr>
            </a:pPr>
            <a:r>
              <a:t>Stage 2: Rank Fusion Manager:</a:t>
            </a:r>
            <a:br/>
            <a:r>
              <a:t>Applies Reciprocal Rank Fusion (k=60): score = 1/(60+rank). Scale-invariant fusion extracts top-30 candidates.</a:t>
            </a:r>
          </a:p>
          <a:p>
            <a:pPr>
              <a:spcBef>
                <a:spcPts val="800"/>
              </a:spcBef>
              <a:defRPr sz="900">
                <a:solidFill>
                  <a:srgbClr val="212121"/>
                </a:solidFill>
                <a:latin typeface="Segoe UI"/>
              </a:defRPr>
            </a:pPr>
            <a:r>
              <a:t>Stage 3: The Senior Professor:</a:t>
            </a:r>
            <a:br/>
            <a:r>
              <a:t>Cross-Encoder performs token-level cross-attention. Filters distractors and ranks top-5 verified evidence.</a:t>
            </a:r>
          </a:p>
          <a:p>
            <a:pPr>
              <a:spcBef>
                <a:spcPts val="800"/>
              </a:spcBef>
              <a:defRPr sz="900">
                <a:solidFill>
                  <a:srgbClr val="212121"/>
                </a:solidFill>
                <a:latin typeface="Segoe UI"/>
              </a:defRPr>
            </a:pPr>
            <a:r>
              <a:t>Stage 4: Private Local Student:</a:t>
            </a:r>
            <a:br/>
            <a:r>
              <a:t>Qwen 2.5-3B Instruct (GGUF via llama-cpp-python) generates fluid answer with bracket citations [1] completely offline.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292608"/>
          </a:xfrm>
          <a:prstGeom prst="roundRect">
            <a:avLst/>
          </a:prstGeom>
          <a:solidFill>
            <a:srgbClr val="E8F5E9"/>
          </a:solidFill>
          <a:ln w="1270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1B5E20"/>
                </a:solidFill>
                <a:latin typeface="Segoe UI"/>
              </a:defRPr>
            </a:pPr>
            <a:r>
              <a:t>RUBRIC 3 &amp; 11: TECHNICAL IMPLEMENTATION &amp; DEEP CS DEFENSE</a:t>
            </a:r>
          </a:p>
        </p:txBody>
      </p:sp>
      <p:sp>
        <p:nvSpPr>
          <p:cNvPr id="4" name="TextBox 3"/>
          <p:cNvSpPr txBox="1"/>
          <p:nvPr/>
        </p:nvSpPr>
        <p:spPr>
          <a:xfrm>
            <a:off x="685800" y="621792"/>
            <a:ext cx="10789920" cy="502920"/>
          </a:xfrm>
          <a:prstGeom prst="rect">
            <a:avLst/>
          </a:prstGeom>
          <a:noFill/>
        </p:spPr>
        <p:txBody>
          <a:bodyPr wrap="square">
            <a:spAutoFit/>
          </a:bodyPr>
          <a:lstStyle/>
          <a:p>
            <a:pPr>
              <a:defRPr sz="2000" b="1">
                <a:solidFill>
                  <a:srgbClr val="1B5E20"/>
                </a:solidFill>
                <a:latin typeface="Segoe UI"/>
              </a:defRPr>
            </a:pPr>
            <a:r>
              <a:t>Part 3.2: Attention Mechanisms — Bi-Encoder vs. Cross-Encoder</a:t>
            </a:r>
          </a:p>
        </p:txBody>
      </p:sp>
      <p:sp>
        <p:nvSpPr>
          <p:cNvPr id="5" name="TextBox 4"/>
          <p:cNvSpPr txBox="1"/>
          <p:nvPr/>
        </p:nvSpPr>
        <p:spPr>
          <a:xfrm>
            <a:off x="685800" y="1051560"/>
            <a:ext cx="10789920" cy="347472"/>
          </a:xfrm>
          <a:prstGeom prst="rect">
            <a:avLst/>
          </a:prstGeom>
          <a:noFill/>
        </p:spPr>
        <p:txBody>
          <a:bodyPr wrap="square">
            <a:spAutoFit/>
          </a:bodyPr>
          <a:lstStyle/>
          <a:p>
            <a:pPr>
              <a:defRPr sz="1100">
                <a:solidFill>
                  <a:srgbClr val="555555"/>
                </a:solidFill>
                <a:latin typeface="Segoe UI"/>
              </a:defRPr>
            </a:pPr>
            <a:r>
              <a:t>Why Stage 2 Neural Cross-Attention Eliminates Vector Compression Blur and Disambiguates Evidence</a:t>
            </a:r>
          </a:p>
        </p:txBody>
      </p:sp>
      <p:pic>
        <p:nvPicPr>
          <p:cNvPr id="6" name="Picture 5" descr="part3_2_comparison_flowchart.png"/>
          <p:cNvPicPr>
            <a:picLocks noChangeAspect="1"/>
          </p:cNvPicPr>
          <p:nvPr/>
        </p:nvPicPr>
        <p:blipFill>
          <a:blip r:embed="rId2"/>
          <a:stretch>
            <a:fillRect/>
          </a:stretch>
        </p:blipFill>
        <p:spPr>
          <a:xfrm>
            <a:off x="685800" y="1508760"/>
            <a:ext cx="7315200" cy="4114800"/>
          </a:xfrm>
          <a:prstGeom prst="rect">
            <a:avLst/>
          </a:prstGeom>
        </p:spPr>
      </p:pic>
      <p:sp>
        <p:nvSpPr>
          <p:cNvPr id="7" name="Rounded Rectangle 6"/>
          <p:cNvSpPr/>
          <p:nvPr/>
        </p:nvSpPr>
        <p:spPr>
          <a:xfrm>
            <a:off x="8183879" y="1508760"/>
            <a:ext cx="3337560" cy="4709160"/>
          </a:xfrm>
          <a:prstGeom prst="roundRect">
            <a:avLst/>
          </a:prstGeom>
          <a:solidFill>
            <a:srgbClr val="E8F5E9"/>
          </a:solidFill>
          <a:ln w="1524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B5E20"/>
                </a:solidFill>
                <a:latin typeface="Segoe UI"/>
              </a:defRPr>
            </a:pPr>
            <a:r>
              <a:t>THE CS ATTENTION DIFFERENCE:</a:t>
            </a:r>
          </a:p>
          <a:p>
            <a:pPr>
              <a:spcBef>
                <a:spcPts val="800"/>
              </a:spcBef>
              <a:defRPr sz="900">
                <a:solidFill>
                  <a:srgbClr val="212121"/>
                </a:solidFill>
                <a:latin typeface="Segoe UI"/>
              </a:defRPr>
            </a:pPr>
            <a:r>
              <a:t>Bi-Encoder Limitation (Stage 1):</a:t>
            </a:r>
            <a:br/>
            <a:r>
              <a:t>Encodes Query and Passage completely independently into vectors U and V. They never interact until dot product. High information loss on exact facts.</a:t>
            </a:r>
          </a:p>
          <a:p>
            <a:pPr>
              <a:spcBef>
                <a:spcPts val="800"/>
              </a:spcBef>
              <a:defRPr sz="900">
                <a:solidFill>
                  <a:srgbClr val="212121"/>
                </a:solidFill>
                <a:latin typeface="Segoe UI"/>
              </a:defRPr>
            </a:pPr>
            <a:r>
              <a:t>Cross-Encoder Advantage (Stage 2):</a:t>
            </a:r>
            <a:br/>
            <a:r>
              <a:t>Concatenates tokens: [CLS] Query [SEP] Passage [SEP]. Evaluates bidirectional cross-attention across all transformer layers.</a:t>
            </a:r>
          </a:p>
          <a:p>
            <a:pPr>
              <a:spcBef>
                <a:spcPts val="800"/>
              </a:spcBef>
              <a:defRPr sz="900">
                <a:solidFill>
                  <a:srgbClr val="212121"/>
                </a:solidFill>
                <a:latin typeface="Segoe UI"/>
              </a:defRPr>
            </a:pPr>
            <a:r>
              <a:t>Zero Compression Loss:</a:t>
            </a:r>
            <a:br/>
            <a:r>
              <a:t>Every token in the query attends to every token in the passage. Enables exact empirical fact disambiguation (+23% gain).</a:t>
            </a:r>
          </a:p>
          <a:p>
            <a:pPr>
              <a:spcBef>
                <a:spcPts val="800"/>
              </a:spcBef>
              <a:defRPr sz="900">
                <a:solidFill>
                  <a:srgbClr val="212121"/>
                </a:solidFill>
                <a:latin typeface="Segoe UI"/>
              </a:defRPr>
            </a:pPr>
            <a:r>
              <a:t>Pareto Frontier Innovation:</a:t>
            </a:r>
            <a:br/>
            <a:r>
              <a:t>Fast Bi-Encoder initial scan across 5,000 chunks (48ms), then deep Cross-Encoder reranking on top 30 (289ms).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292608"/>
          </a:xfrm>
          <a:prstGeom prst="roundRect">
            <a:avLst/>
          </a:prstGeom>
          <a:solidFill>
            <a:srgbClr val="E8F5E9"/>
          </a:solidFill>
          <a:ln w="1270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1B5E20"/>
                </a:solidFill>
                <a:latin typeface="Segoe UI"/>
              </a:defRPr>
            </a:pPr>
            <a:r>
              <a:t>RUBRIC 2, 4, 5, 9: COMPLETE 100-POINT BSCS RUBRIC ALIGNMENT</a:t>
            </a:r>
          </a:p>
        </p:txBody>
      </p:sp>
      <p:sp>
        <p:nvSpPr>
          <p:cNvPr id="4" name="TextBox 3"/>
          <p:cNvSpPr txBox="1"/>
          <p:nvPr/>
        </p:nvSpPr>
        <p:spPr>
          <a:xfrm>
            <a:off x="685800" y="621792"/>
            <a:ext cx="10789920" cy="502920"/>
          </a:xfrm>
          <a:prstGeom prst="rect">
            <a:avLst/>
          </a:prstGeom>
          <a:noFill/>
        </p:spPr>
        <p:txBody>
          <a:bodyPr wrap="square">
            <a:spAutoFit/>
          </a:bodyPr>
          <a:lstStyle/>
          <a:p>
            <a:pPr>
              <a:defRPr sz="2000" b="1">
                <a:solidFill>
                  <a:srgbClr val="1B5E20"/>
                </a:solidFill>
                <a:latin typeface="Segoe UI"/>
              </a:defRPr>
            </a:pPr>
            <a:r>
              <a:t>Part 4.2: System Functionality &amp; Conceptual Framework (IPO Model)</a:t>
            </a:r>
          </a:p>
        </p:txBody>
      </p:sp>
      <p:sp>
        <p:nvSpPr>
          <p:cNvPr id="5" name="TextBox 4"/>
          <p:cNvSpPr txBox="1"/>
          <p:nvPr/>
        </p:nvSpPr>
        <p:spPr>
          <a:xfrm>
            <a:off x="685800" y="1051560"/>
            <a:ext cx="10789920" cy="347472"/>
          </a:xfrm>
          <a:prstGeom prst="rect">
            <a:avLst/>
          </a:prstGeom>
          <a:noFill/>
        </p:spPr>
        <p:txBody>
          <a:bodyPr wrap="square">
            <a:spAutoFit/>
          </a:bodyPr>
          <a:lstStyle/>
          <a:p>
            <a:pPr>
              <a:defRPr sz="1100">
                <a:solidFill>
                  <a:srgbClr val="555555"/>
                </a:solidFill>
                <a:latin typeface="Segoe UI"/>
              </a:defRPr>
            </a:pPr>
            <a:r>
              <a:t>Input-Process-Output conceptual framework mapping engineering modules to evaluation criteria</a:t>
            </a:r>
          </a:p>
        </p:txBody>
      </p:sp>
      <p:pic>
        <p:nvPicPr>
          <p:cNvPr id="6" name="Picture 5" descr="part4_2_conceptual_framework.png"/>
          <p:cNvPicPr>
            <a:picLocks noChangeAspect="1"/>
          </p:cNvPicPr>
          <p:nvPr/>
        </p:nvPicPr>
        <p:blipFill>
          <a:blip r:embed="rId2"/>
          <a:stretch>
            <a:fillRect/>
          </a:stretch>
        </p:blipFill>
        <p:spPr>
          <a:xfrm>
            <a:off x="685800" y="1508760"/>
            <a:ext cx="7315200" cy="4114800"/>
          </a:xfrm>
          <a:prstGeom prst="rect">
            <a:avLst/>
          </a:prstGeom>
        </p:spPr>
      </p:pic>
      <p:sp>
        <p:nvSpPr>
          <p:cNvPr id="7" name="Rounded Rectangle 6"/>
          <p:cNvSpPr/>
          <p:nvPr/>
        </p:nvSpPr>
        <p:spPr>
          <a:xfrm>
            <a:off x="8183879" y="1508760"/>
            <a:ext cx="3337560" cy="4709160"/>
          </a:xfrm>
          <a:prstGeom prst="roundRect">
            <a:avLst/>
          </a:prstGeom>
          <a:solidFill>
            <a:srgbClr val="E8F5E9"/>
          </a:solidFill>
          <a:ln w="1524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B5E20"/>
                </a:solidFill>
                <a:latin typeface="Segoe UI"/>
              </a:defRPr>
            </a:pPr>
            <a:r>
              <a:t>100-POINT RUBRIC ALIGNMENT:</a:t>
            </a:r>
          </a:p>
          <a:p>
            <a:pPr>
              <a:spcBef>
                <a:spcPts val="400"/>
              </a:spcBef>
              <a:defRPr sz="850">
                <a:solidFill>
                  <a:srgbClr val="212121"/>
                </a:solidFill>
                <a:latin typeface="Segoe UI"/>
              </a:defRPr>
            </a:pPr>
            <a:r>
              <a:t>1. Problem-Solution (10 Pts):</a:t>
            </a:r>
            <a:br/>
            <a:r>
              <a:t>83.2% Grounding &amp; air-gapped privacy.</a:t>
            </a:r>
          </a:p>
          <a:p>
            <a:pPr>
              <a:spcBef>
                <a:spcPts val="400"/>
              </a:spcBef>
              <a:defRPr sz="850">
                <a:solidFill>
                  <a:srgbClr val="212121"/>
                </a:solidFill>
                <a:latin typeface="Segoe UI"/>
              </a:defRPr>
            </a:pPr>
            <a:r>
              <a:t>2. Functionality (20 Pts):</a:t>
            </a:r>
            <a:br/>
            <a:r>
              <a:t>Ingestion, RRF, Dual Rerank, LLM, Export.</a:t>
            </a:r>
          </a:p>
          <a:p>
            <a:pPr>
              <a:spcBef>
                <a:spcPts val="400"/>
              </a:spcBef>
              <a:defRPr sz="850">
                <a:solidFill>
                  <a:srgbClr val="212121"/>
                </a:solidFill>
                <a:latin typeface="Segoe UI"/>
              </a:defRPr>
            </a:pPr>
            <a:r>
              <a:t>3. Technical Impl (15 Pts):</a:t>
            </a:r>
            <a:br/>
            <a:r>
              <a:t>FAISS FlatIP, BM25, GGUF in-process.</a:t>
            </a:r>
          </a:p>
          <a:p>
            <a:pPr>
              <a:spcBef>
                <a:spcPts val="400"/>
              </a:spcBef>
              <a:defRPr sz="850">
                <a:solidFill>
                  <a:srgbClr val="212121"/>
                </a:solidFill>
                <a:latin typeface="Segoe UI"/>
              </a:defRPr>
            </a:pPr>
            <a:r>
              <a:t>4. Performance (10 Pts):</a:t>
            </a:r>
            <a:br/>
            <a:r>
              <a:t>610ms total latency, &lt;8.5GB RAM, 7 threads.</a:t>
            </a:r>
          </a:p>
          <a:p>
            <a:pPr>
              <a:spcBef>
                <a:spcPts val="400"/>
              </a:spcBef>
              <a:defRPr sz="850">
                <a:solidFill>
                  <a:srgbClr val="212121"/>
                </a:solidFill>
                <a:latin typeface="Segoe UI"/>
              </a:defRPr>
            </a:pPr>
            <a:r>
              <a:t>5. Data Management (10 Pts):</a:t>
            </a:r>
            <a:br/>
            <a:r>
              <a:t>SHA-256 chunk hashing, incremental index.</a:t>
            </a:r>
          </a:p>
          <a:p>
            <a:pPr>
              <a:spcBef>
                <a:spcPts val="400"/>
              </a:spcBef>
              <a:defRPr sz="850">
                <a:solidFill>
                  <a:srgbClr val="212121"/>
                </a:solidFill>
                <a:latin typeface="Segoe UI"/>
              </a:defRPr>
            </a:pPr>
            <a:r>
              <a:t>6. UI/UX (10 Pts):</a:t>
            </a:r>
            <a:br/>
            <a:r>
              <a:t>Inspector Drawer, citation page jump.</a:t>
            </a:r>
          </a:p>
          <a:p>
            <a:pPr>
              <a:spcBef>
                <a:spcPts val="400"/>
              </a:spcBef>
              <a:defRPr sz="850">
                <a:solidFill>
                  <a:srgbClr val="212121"/>
                </a:solidFill>
                <a:latin typeface="Segoe UI"/>
              </a:defRPr>
            </a:pPr>
            <a:r>
              <a:t>7-8. Security &amp; Reliability (10 Pts):</a:t>
            </a:r>
            <a:br/>
            <a:r>
              <a:t>100% offline, _LLAMA_LOCK thread safety.</a:t>
            </a:r>
          </a:p>
          <a:p>
            <a:pPr>
              <a:spcBef>
                <a:spcPts val="400"/>
              </a:spcBef>
              <a:defRPr sz="850">
                <a:solidFill>
                  <a:srgbClr val="212121"/>
                </a:solidFill>
                <a:latin typeface="Segoe UI"/>
              </a:defRPr>
            </a:pPr>
            <a:r>
              <a:t>9-11. Testing, Demo &amp; Defense (15 Pts):</a:t>
            </a:r>
            <a:br/>
            <a:r>
              <a:t>35 unit tests passing green, live demo.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108960" cy="292608"/>
          </a:xfrm>
          <a:prstGeom prst="roundRect">
            <a:avLst/>
          </a:prstGeom>
          <a:solidFill>
            <a:srgbClr val="E8F5E9"/>
          </a:solidFill>
          <a:ln w="1270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1B5E20"/>
                </a:solidFill>
                <a:latin typeface="Segoe UI"/>
              </a:defRPr>
            </a:pPr>
            <a:r>
              <a:t>RUBRIC 9, 10 &amp; 11: TESTING, DEMONSTRATION &amp; TECHNICAL DEFENSE</a:t>
            </a:r>
          </a:p>
        </p:txBody>
      </p:sp>
      <p:sp>
        <p:nvSpPr>
          <p:cNvPr id="4" name="TextBox 3"/>
          <p:cNvSpPr txBox="1"/>
          <p:nvPr/>
        </p:nvSpPr>
        <p:spPr>
          <a:xfrm>
            <a:off x="685800" y="621792"/>
            <a:ext cx="10789920" cy="502920"/>
          </a:xfrm>
          <a:prstGeom prst="rect">
            <a:avLst/>
          </a:prstGeom>
          <a:noFill/>
        </p:spPr>
        <p:txBody>
          <a:bodyPr wrap="square">
            <a:spAutoFit/>
          </a:bodyPr>
          <a:lstStyle/>
          <a:p>
            <a:pPr>
              <a:defRPr sz="2000" b="1">
                <a:solidFill>
                  <a:srgbClr val="1B5E20"/>
                </a:solidFill>
                <a:latin typeface="Segoe UI"/>
              </a:defRPr>
            </a:pPr>
            <a:r>
              <a:t>Conclusion: Empirical Superiority &amp; System Defensibility</a:t>
            </a:r>
          </a:p>
        </p:txBody>
      </p:sp>
      <p:sp>
        <p:nvSpPr>
          <p:cNvPr id="5" name="TextBox 4"/>
          <p:cNvSpPr txBox="1"/>
          <p:nvPr/>
        </p:nvSpPr>
        <p:spPr>
          <a:xfrm>
            <a:off x="685800" y="1051560"/>
            <a:ext cx="10789920" cy="347472"/>
          </a:xfrm>
          <a:prstGeom prst="rect">
            <a:avLst/>
          </a:prstGeom>
          <a:noFill/>
        </p:spPr>
        <p:txBody>
          <a:bodyPr wrap="square">
            <a:spAutoFit/>
          </a:bodyPr>
          <a:lstStyle/>
          <a:p>
            <a:pPr>
              <a:defRPr sz="1100">
                <a:solidFill>
                  <a:srgbClr val="555555"/>
                </a:solidFill>
                <a:latin typeface="Segoe UI"/>
              </a:defRPr>
            </a:pPr>
            <a:r>
              <a:t>Active corpus benchmark results, challenge tier breakdown, and verified automated test suite</a:t>
            </a:r>
          </a:p>
        </p:txBody>
      </p:sp>
      <p:sp>
        <p:nvSpPr>
          <p:cNvPr id="6" name="Rounded Rectangle 5"/>
          <p:cNvSpPr/>
          <p:nvPr/>
        </p:nvSpPr>
        <p:spPr>
          <a:xfrm>
            <a:off x="685800" y="1508760"/>
            <a:ext cx="6217920" cy="4709160"/>
          </a:xfrm>
          <a:prstGeom prst="roundRect">
            <a:avLst/>
          </a:prstGeom>
          <a:solidFill>
            <a:srgbClr val="FFFFFF"/>
          </a:solidFill>
          <a:ln w="1905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B5E20"/>
                </a:solidFill>
                <a:latin typeface="Segoe UI"/>
              </a:defRPr>
            </a:pPr>
            <a:r>
              <a:t>EMPIRICAL BENCHMARK SCORECARD (50 RESEARCH QUERIES)</a:t>
            </a:r>
          </a:p>
          <a:p>
            <a:pPr>
              <a:spcBef>
                <a:spcPts val="800"/>
              </a:spcBef>
              <a:defRPr sz="950">
                <a:solidFill>
                  <a:srgbClr val="212121"/>
                </a:solidFill>
                <a:latin typeface="Segoe UI"/>
              </a:defRPr>
            </a:pPr>
            <a:r>
              <a:t>• Baseline Hybrid (BM25 + FAISS):</a:t>
            </a:r>
            <a:br/>
            <a:r>
              <a:t>  Recall@5: 86.0%  |  MRR@5: 0.827  |  Latency: 73 ms</a:t>
            </a:r>
          </a:p>
          <a:p>
            <a:pPr>
              <a:spcBef>
                <a:spcPts val="800"/>
              </a:spcBef>
              <a:defRPr sz="950">
                <a:solidFill>
                  <a:srgbClr val="212121"/>
                </a:solidFill>
                <a:latin typeface="Segoe UI"/>
              </a:defRPr>
            </a:pPr>
            <a:r>
              <a:t>• Shallow L-2 Cross-Encoder (MiniLM-L-2-v2):</a:t>
            </a:r>
            <a:br/>
            <a:r>
              <a:t>  Recall@5: 90.0% (+4.7%)  |  MRR: 0.862  |  Latency: 610 ms total</a:t>
            </a:r>
          </a:p>
          <a:p>
            <a:pPr>
              <a:spcBef>
                <a:spcPts val="800"/>
              </a:spcBef>
              <a:defRPr sz="950">
                <a:solidFill>
                  <a:srgbClr val="212121"/>
                </a:solidFill>
                <a:latin typeface="Segoe UI"/>
              </a:defRPr>
            </a:pPr>
            <a:r>
              <a:t>• Deep L-6 Cross-Encoder (MiniLM-L6-v2):</a:t>
            </a:r>
            <a:br/>
            <a:r>
              <a:t>  Recall@5: 90.0% (+4.7%)  |  MRR: 0.867  |  Latency: 1,648 ms total</a:t>
            </a:r>
          </a:p>
          <a:p>
            <a:pPr>
              <a:spcBef>
                <a:spcPts val="800"/>
              </a:spcBef>
              <a:defRPr sz="950">
                <a:solidFill>
                  <a:srgbClr val="212121"/>
                </a:solidFill>
                <a:latin typeface="Segoe UI"/>
              </a:defRPr>
            </a:pPr>
            <a:r>
              <a:t>• Challenge Tier Win (Empirical Facts):</a:t>
            </a:r>
            <a:br/>
            <a:r>
              <a:t>  Hybrid 77.0%  --&gt;  Cross-Encoder 100.0%  (+23.0% GAIN!)</a:t>
            </a:r>
          </a:p>
          <a:p>
            <a:pPr>
              <a:spcBef>
                <a:spcPts val="800"/>
              </a:spcBef>
              <a:defRPr sz="950">
                <a:solidFill>
                  <a:srgbClr val="212121"/>
                </a:solidFill>
                <a:latin typeface="Segoe UI"/>
              </a:defRPr>
            </a:pPr>
            <a:r>
              <a:t>• Quality &amp; Grounding (RAGAS Framework):</a:t>
            </a:r>
            <a:br/>
            <a:r>
              <a:t>  Faithfulness: 83.2%  |  Attribution Rate: 88.9%  |  ROUGE-L: 0.517</a:t>
            </a:r>
          </a:p>
        </p:txBody>
      </p:sp>
      <p:sp>
        <p:nvSpPr>
          <p:cNvPr id="7" name="Rounded Rectangle 6"/>
          <p:cNvSpPr/>
          <p:nvPr/>
        </p:nvSpPr>
        <p:spPr>
          <a:xfrm>
            <a:off x="7086600" y="1508760"/>
            <a:ext cx="4434840" cy="4709160"/>
          </a:xfrm>
          <a:prstGeom prst="roundRect">
            <a:avLst/>
          </a:prstGeom>
          <a:solidFill>
            <a:srgbClr val="E8F5E9"/>
          </a:solidFill>
          <a:ln w="1905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B5E20"/>
                </a:solidFill>
                <a:latin typeface="Segoe UI"/>
              </a:defRPr>
            </a:pPr>
            <a:r>
              <a:t>FINAL THESIS DEFENSE TAKEAWAYS:</a:t>
            </a:r>
          </a:p>
          <a:p>
            <a:pPr>
              <a:spcBef>
                <a:spcPts val="1000"/>
              </a:spcBef>
              <a:defRPr sz="950">
                <a:solidFill>
                  <a:srgbClr val="212121"/>
                </a:solidFill>
                <a:latin typeface="Segoe UI"/>
              </a:defRPr>
            </a:pPr>
            <a:r>
              <a:t>1. Solves the Real-World Privacy Crisis:</a:t>
            </a:r>
            <a:br/>
            <a:r>
              <a:t>100% offline, air-gapped data sovereignty on commodity CPU hardware with zero external API dependencies.</a:t>
            </a:r>
          </a:p>
          <a:p>
            <a:pPr>
              <a:spcBef>
                <a:spcPts val="1000"/>
              </a:spcBef>
              <a:defRPr sz="950">
                <a:solidFill>
                  <a:srgbClr val="212121"/>
                </a:solidFill>
                <a:latin typeface="Segoe UI"/>
              </a:defRPr>
            </a:pPr>
            <a:r>
              <a:t>2. Solves the Technical Hallucination Crisis:</a:t>
            </a:r>
            <a:br/>
            <a:r>
              <a:t>Two-stage hybrid retrieval + cross-encoder neural reranking eliminates distractor blurs and delivers verified evidence.</a:t>
            </a:r>
          </a:p>
          <a:p>
            <a:pPr>
              <a:spcBef>
                <a:spcPts val="1000"/>
              </a:spcBef>
              <a:defRPr sz="950">
                <a:solidFill>
                  <a:srgbClr val="212121"/>
                </a:solidFill>
                <a:latin typeface="Segoe UI"/>
              </a:defRPr>
            </a:pPr>
            <a:r>
              <a:t>3. 35 Automated Tests Passing Green (100%):</a:t>
            </a:r>
            <a:br/>
            <a:r>
              <a:t>Test suite verifies zero filename leakage, p-value bounds (p in [0.0, 1.0]), and mathematical consistency.</a:t>
            </a:r>
          </a:p>
          <a:p>
            <a:pPr>
              <a:spcBef>
                <a:spcPts val="1000"/>
              </a:spcBef>
              <a:defRPr sz="950">
                <a:solidFill>
                  <a:srgbClr val="212121"/>
                </a:solidFill>
                <a:latin typeface="Segoe UI"/>
              </a:defRPr>
            </a:pPr>
            <a:r>
              <a:t>4. Ready for Production Deployment:</a:t>
            </a:r>
            <a:br/>
            <a:r>
              <a:t>FastAPI backend, responsive dark UI, Inspector Drawer, and multi-sheet Excel report generation.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